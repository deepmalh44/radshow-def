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RAD Showcase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8D4"/>
                </a:solidFill>
                <a:latin typeface="Segoe UI"/>
              </a:defRPr>
            </a:pPr>
            <a:r>
              <a:t>Multi-Region Disaster Recovery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Segoe UI"/>
              </a:defRPr>
            </a:pPr>
            <a:r>
              <a:t>How Our Implementation Addresses Your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6576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Active-Passive  |  Terraform/Terragrunt  |  Azure Front Door  |  SQL MI FOG  |  Automated 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FR-01  FR-02  Section 4.1  Section 4.2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Traffic Flow (Active-Passive)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Users  →  Azure Front Door (Global CDN + WAF)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Front Door  →  APIM (Primary Region Gateway)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APIM  →  Azure Functions (Containerized .NET 8 API)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Functions  →  SQL MI (via Failover Group Listener)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Functions  →  Redis Cache (Session/Data Caching)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Functions  →  Key Vault (Secrets via Managed Identity)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Vue.js SPA served from Storage Account → Front Door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12064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Key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Active-Passive: Primary handles all traffic; secondary warm/ready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Front Door Priority Routing: Primary=1, Secondary=2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APIM Premium + Multi-Region Gateway (no config changes in DR)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SQL MI Failover Group: Automatic geo-replication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Containerized Functions: Same image deployed to both regions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Storage-hosted SPA: Geo-redundant, served via Front Door</a:t>
            </a:r>
          </a:p>
          <a:p>
            <a:pPr>
              <a:spcAft>
                <a:spcPts val="1000"/>
              </a:spcAft>
              <a:defRPr sz="1300">
                <a:solidFill>
                  <a:srgbClr val="E0E0E0"/>
                </a:solidFill>
                <a:latin typeface="Segoe UI"/>
              </a:defRPr>
            </a:pPr>
            <a:r>
              <a:t>✔  Key Vault per region with RBAC (no access policies)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Azure Services — Requirement to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FR-01  Section 4.1  NFR-12  NFR-13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Azure Front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Global CDN + WAF + TLS termination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Priority-based origin routing (og-api, og-spa)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Health probes: GET /api/healthz every 30s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Session affinity OFF for clean DR failover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Azure API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Premium Classic SKU, multi-region enabled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Gateway deployed to both primary &amp; secondary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APIOps pipeline (radshow-apim repo)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No config changes needed during failover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Azure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Linux Consumption on App Service Plan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Containerized .NET 8 API (Docker)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Deployed to both regions from ACR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Managed Identity for all Azure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SQL Managed Instance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Failover Group across paired regions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Geo-replicated with async replication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Listener endpoint for transparent failover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Meets Tier 1 RPO ≤ 5 min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Redis 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8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Distributed caching in primary region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Reduces DB load, improves latency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Graceful degradation on cache miss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Key Vault + Storage + ACR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Key Vault per region (RBAC, no access policies)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Storage: SPA hosting + function state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ACR: Shared container registry with geo-replication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Multi-Region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IR-01  IR-03  IR-04  Section 4.2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103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✅  PRIMARY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Handles all production traffic under normal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Azure Front Door Origin: Priority 1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APIM Gateway (Primary Regional Endpoint)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Function App (Containerized .NET 8 API)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App Service (Web Application)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SQL Managed Instance (Primary in FOG)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Redis Cache (Active)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Key Vault (RBAC, network-locked)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Storage Account (\$web SPA + function state)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Container Registry (Shared)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3C2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⏳  SECONDARY REGION (Warm Passive)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Segoe UI"/>
              </a:defRPr>
            </a:pPr>
            <a:r>
              <a:t>Fully deployed, warm, ready for instant 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Azure Front Door Origin: Priority 2 (standby)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APIM Gateway (Secondary Regional Endpoint)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Function App (Same container image from ACR)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App Service (Warm, identical config)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SQL Managed Instance (Secondary in FOG, geo-replicated)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Key Vault (RBAC, network-locked)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Storage Account (\$web SPA + function state)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All resources IaC-managed, identical to primary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E0E0"/>
                </a:solidFill>
                <a:latin typeface="Segoe UI"/>
              </a:defRPr>
            </a:pPr>
            <a:r>
              <a:t>3 Environments: DEV01 (swedencentral / germanywestcentral)  |  STG01 (centralindia / southindia)  |  PRD01 (southcentralus / northcentralus)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Failover &amp; Failback —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FR-06  FR-07  FR-08  FR-09  HA-01–HA-06  Section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▶  Planned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108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1. Health check: all components verified healthy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2. Password validation against Key Vault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3. SQL MI FOG: force failover to secondary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4. Front Door: swap origin priorities (sec=1, pri=2)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5. Origin groups: og-api + og-spa updated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6. Key Vault: update active-region secret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7. Validate: /api/status confirms new region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8. Evidence captured (timestamps, logs)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⚠  Unplanned Failover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1089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1. Simulate: disable primary APIM origin in FD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2. FD health probes detect failure (≤30s)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3. Traffic auto-routes to secondary origin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4. Operator confirms via UI or API fallback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5. SQL MI FOG: forced failover if needed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6. Full validation in secondary region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7. RTO/RPO measured against Tier 1 targets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8. Findings documented for improvement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188720"/>
            <a:ext cx="3749039" cy="50292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↩  Planned Failback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1600200"/>
            <a:ext cx="338327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1. Verify primary region fully recovered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2. Smoke tests against primary (bypass FD)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3. SQL MI FOG: planned failover back to primary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4. Front Door: restore original priorities (pri=1, sec=2)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5. Key Vault: update active-region to primary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6. Validate: CRUD ops show primary as active region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7. Confirm performance matches pre-failover baseline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8. Close out: update HA log and runbooks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Security &amp;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NFR-06  NFR-07  NFR-08  IR-04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Failover Password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Password stored in Azure Key Vault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UI prompts for password before any DR action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Validated via secure API call to Function App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Operators can rotate password without redeployment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Identity &amp;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OIDC federation: GitHub Actions → Azure (no secrets)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Managed Identity for all Azure resource access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Key Vault RBAC (Secrets Officer for Automation)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No passwords or keys in code or app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Network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Key Vaults: public access disabled (network-locked)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Front Door WAF policy (DRS 2.0 ruleset)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Private endpoints for SQL MI access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Storage accounts with SAS-free access (RBAC)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Zero Secrets in Code —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GitHub Actions authenticate to Azure via OIDC federated credentials (no stored secrets)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Function Apps + App Services use System-Assigned Managed Identity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Key Vault secrets accessed at runtime via Managed Identity (Secrets User role)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SQL MI connection via FOG listener + AAD auth (no connection string passwords)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ACR image pull via Managed Identity (AcrPull role assignment)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Automation Account uses Managed Identity for DR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Production Safeguards (IR-02)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Terraform lifecycle: prevent_destroy on critical resources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lifecycle ignore_changes for container image drift protection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GitHub Environment protection rules for PRD deployments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Manual approval gates in CD pipelines for critical infra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State file locking in Azure Storage (lease-based)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RBAC least-privilege: each identity scoped to its resource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Infrastructure as Code — 6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PR-01–PR-06  IR-03  IR-04  NFR-12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radshow-def  —  Terraform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20+ reusable Terraform modules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networking, front-door, apim, function-app,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sql-mi, redis, key-vault, monitoring,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automation (DR scripts), storage, ACR...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Versioned: PRD pins to tag v1.0.0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1887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radshow-lic  —  Lifecycle Controller (GitOps)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Terragrunt configs per environment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STG01/ with 30+ component directories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References radshow-def modules via git::https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Environment-specific variables (env.hcl)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OIDC setup script for GitHub → Azure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radshow-api  —  C# .NET 8 Function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Containerized API (Docker → ACR)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/api/status, /api/healthz, /api/products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Failover/failback orchestration endpoints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Health checks: SQL MI, Redis, APIM, FuncApp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CI/CD: build → ACR push → deploy both regions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radshow-spa  —  Vue.js SPA 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Regional Status dashboard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Product Inventory CRUD UI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Failover/Failback control with password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Deployed to Storage Account \$web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CI/CD: build → deploy to both storage accounts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7033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radshow-db  —  SQL Database Migrations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Entity Framework migrations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Products table + schema versioning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Runs against SQL MI FOG listener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CI/CD: migrate.yml workflow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Idempotent — safe to re-run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703320"/>
            <a:ext cx="3657600" cy="237744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794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radshow-apim  —  APIOps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APIM policies, APIs, products exported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publisher.yml pipeline (APIOps pattern)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Follows Microsoft APIOps best practices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No manual portal changes required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Version-controlled API definitions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Observability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NFR-09  NFR-10  NFR-11  HA-06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Azure Monitor &amp; Log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Centralized Log Analytics Workspace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Diagnostic settings on all resources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Application Insights for API telemetry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Custom dashboards for regional health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DR event timeline reconstruction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Health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Front Door health probes (GET /api/healthz)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/api/status: real-time component health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SQL MI connectivity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Redis Cache availability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APIM gateway reachability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Function App responsiveness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Alerting &amp;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Metric alerts via Terraform monitoring module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DR-specific alerts (FOG role changes)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Front Door origin health alerts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Function App error rate / latency alerts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Action groups for operator notification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Regional Status Dashboard (FR-03)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Vue.js SPA displays real-time status for each region: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Current role (Primary/Secondary) with visual indicators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Health of each component (SQL MI, Redis, APIM, Functions)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Active region identification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  • Last failover/failback timestamp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Auto-refreshes — operators see status changes during DR drills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023360"/>
            <a:ext cx="5577840" cy="246888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DR Evidence Capture (HA-06)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3484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Automated evidence collection script (06-Capture-Evidence.ps1)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Captures: timestamps, FD routing state, FOG roles, health responses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DR drill validation script (05-Validate-Failover.ps1)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All runbook outputs stored for audit and improvement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RTO/RPO measurements logged per component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RTO / RPO &amp; Availability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NFR-01  NFR-02  NFR-04  NFR-05  HA-01–HA-04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03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7C10"/>
                </a:solidFill>
                <a:latin typeface="Segoe UI"/>
              </a:defRPr>
            </a:pPr>
            <a:r>
              <a:t>Target SLA: 99.99%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Annual downtime: ≤ 52 minutes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Per-event budget: ≤ 26 minutes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Multi-region eliminates single-region SPOF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2801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3C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Tier 1 (Mission Critical)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RTO ≤ 15 minutes  |  RPO ≤ 5 minutes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SQL MI FOG: async replication, lag &lt; 5 min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Front Door failover: &lt; 30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Validated via DR Drills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Planned failover tested end-to-end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Unplanned failover simulated</a:t>
            </a:r>
          </a:p>
          <a:p>
            <a:pPr>
              <a:spcAft>
                <a:spcPts val="600"/>
              </a:spcAft>
              <a:defRPr sz="1200">
                <a:solidFill>
                  <a:srgbClr val="E0E0E0"/>
                </a:solidFill>
                <a:latin typeface="Segoe UI"/>
              </a:defRPr>
            </a:pPr>
            <a:r>
              <a:t>Failback validated with data integrity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3200400"/>
          </a:xfrm>
          <a:prstGeom prst="roundRect">
            <a:avLst>
              <a:gd name="adj" fmla="val 3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Component-Level RTO/RPO Achievement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RPO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Azure Front Door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Priority-based origin routing, health probes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&lt; 30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0 (stateless)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343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✅ Met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APIM (Premium)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Multi-region gateway, auto-route healthy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&lt; 30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0 (stateless)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✅ Met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Function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983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Warm standby, same container image both regions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&lt; 2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0 (stateless)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✅ Met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SQL MI (FOG)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Failover Group, async geo-replication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&lt; 60 seconds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≤ 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✅ Met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Redis Cache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623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Primary region only; graceful degradation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N/A (non-critical)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N/A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✅ Designed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Key Vault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Per-region vault, RBAC, network-locked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Instant (per-region)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7C10"/>
                </a:solidFill>
                <a:latin typeface="Segoe UI"/>
              </a:defRPr>
            </a:pPr>
            <a:r>
              <a:t>✅ Met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DR Automation, Runbooks &amp; What’s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8D4"/>
                </a:solidFill>
                <a:latin typeface="Segoe UI"/>
              </a:defRPr>
            </a:pPr>
            <a:r>
              <a:t>FR-10  Section 11  Section 12  HA-05  HA-06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Automated DR Runbooks (Azure Automation)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00-Setup-Environment.ps1 — Configure automation variables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01-Check-Health.ps1 — Pre-drill health validation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02-Planned-Failover.ps1 — Full planned failover orchestration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03-Unplanned-Failover.ps1 — Simulated outage + forced failover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04-Planned-Failback.ps1 — Controlled return to primary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05-Validate-Failover.ps1 — Post-DR validation checks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06-Capture-Evidence.ps1 — RTO/RPO evidence collection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Invoke-DRFailover.ps1 — Master orchestrator 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25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CI/CD Pipelines (GitHub Actions)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radshow-api: Build Docker → Push ACR → Deploy both regions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radshow-spa: Build Vue.js → Deploy to both storage accounts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radshow-db: EF migrations via FOG listener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radshow-apim: APIOps publisher pipeline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radshow-lic: Terragrunt plan/apply (IaC deployments)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All pipelines: OIDC auth (zero stored secrets)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PRD: Manual approval gates for critical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47120" cy="2286000"/>
          </a:xfrm>
          <a:prstGeom prst="roundRect">
            <a:avLst>
              <a:gd name="adj" fmla="val 3000"/>
            </a:avLst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Requirements Coverage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FR-01–FR-10: Full-stack multi-region app with CRUD, status, failover/failback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NFR-01–NFR-05: 99.99% SLA design, Tier 1 RTO/RPO, multi-region patterns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NFR-06–NFR-08: Password-protected DR controls, Key Vault, zero secrets in code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NFR-09–NFR-11: Azure Monitor, Log Analytics, full observability stack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NFR-12–NFR-13: APIM Premium multi-region + APIOps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7548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HA-01–HA-06: SQL MI FOG, planned/unplanned failover, failback, evidence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IR-01–IR-04: 3 environments, Terraform/Terragrunt only, no manual portal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PR-01–PR-06: 6-repo structure (def/lic/api/spa/db/apim) + CI/CD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Section 10–12: Runbooks, testing, validation,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E0E0E0"/>
                </a:solidFill>
                <a:latin typeface="Segoe UI"/>
              </a:defRPr>
            </a:pPr>
            <a:r>
              <a:t>✅ DR drills executed and validated in STG01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